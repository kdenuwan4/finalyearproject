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88" r:id="rId6"/>
    <p:sldId id="289" r:id="rId7"/>
    <p:sldId id="276" r:id="rId8"/>
    <p:sldId id="304" r:id="rId9"/>
    <p:sldId id="302" r:id="rId10"/>
    <p:sldId id="305" r:id="rId11"/>
    <p:sldId id="306" r:id="rId12"/>
    <p:sldId id="299" r:id="rId13"/>
    <p:sldId id="303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47" d="100"/>
          <a:sy n="47" d="100"/>
        </p:scale>
        <p:origin x="53" y="970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3244"/>
            <a:ext cx="9144000" cy="1384995"/>
          </a:xfrm>
        </p:spPr>
        <p:txBody>
          <a:bodyPr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Final Year Project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Presentation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272579-F9E4-2753-0F23-ABDFBD749003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690113" y="855297"/>
            <a:ext cx="10633207" cy="12464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/>
              <a:t>Navigation with Enhanced Perception in Multi-Agent Systems through Camera-Based Visible Light Communications</a:t>
            </a:r>
            <a:endParaRPr lang="en-US" sz="3000" dirty="0">
              <a:solidFill>
                <a:schemeClr val="accent4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AE3DAA-6074-892F-6134-B580E8FC888E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Introduction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E4809F-A556-6E12-E220-A4C48E5B9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AAABC3-915C-7BA1-97BC-2C13A422E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B9758DC-1D78-DDC9-47BA-B316153EC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425896"/>
            <a:ext cx="7043794" cy="398353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6F4A95F-1788-2914-A8F6-6DDC4E0B78BB}"/>
              </a:ext>
            </a:extLst>
          </p:cNvPr>
          <p:cNvSpPr txBox="1">
            <a:spLocks/>
          </p:cNvSpPr>
          <p:nvPr/>
        </p:nvSpPr>
        <p:spPr>
          <a:xfrm>
            <a:off x="7603958" y="2766589"/>
            <a:ext cx="4122821" cy="3410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 wall-mounted light source is used to send control commands to a robot through visible light signals, while an overhead camera provides a global view of the environment.</a:t>
            </a:r>
          </a:p>
          <a:p>
            <a:pPr marL="0" indent="0">
              <a:buNone/>
            </a:pPr>
            <a:r>
              <a:rPr lang="en-US" sz="2000" dirty="0"/>
              <a:t> The system focuses on understanding robot position, movement, and surroundings to enable coordinated and safe navigation in an indoor space.</a:t>
            </a:r>
          </a:p>
        </p:txBody>
      </p:sp>
    </p:spTree>
    <p:extLst>
      <p:ext uri="{BB962C8B-B14F-4D97-AF65-F5344CB8AC3E}">
        <p14:creationId xmlns:p14="http://schemas.microsoft.com/office/powerpoint/2010/main" val="354636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E9C31-C5EA-1CA3-01EF-40085E27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6E58218-5216-EAD5-32F2-7B2A8C0267A9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Functional 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Concepts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2828B3-689D-3C51-EA52-4B3DCBD12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8B2305-255B-060E-5569-6F0D1A04E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8DE6177D-9A62-13CB-EC11-20B492DDB7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1473" y="1338058"/>
            <a:ext cx="10609053" cy="436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Light-based communication used for sending commands from controller to robot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Overhead camera provides global view of robot and environment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Robot position and direction are continuously estimated from visual input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Environment is structured into a mapped coordinate system for navigation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Central controller makes movement decisions based on real-time perception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Robot can adjust actions based on local conditions for safety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/>
              <a:t>Robot-to-robot communication is enabled using a secondary channel (e.g., LoRa) for coordination and information sharing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31778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2765" y="2073987"/>
            <a:ext cx="2426920" cy="2767094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System Overview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4886" y="2650149"/>
            <a:ext cx="1335309" cy="155770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latin typeface="+mj-lt"/>
              </a:rPr>
              <a:t>SYSTEM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187317">
            <a:off x="634486" y="1560028"/>
            <a:ext cx="3017520" cy="1188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 central LED panel acting as a Li-Fi access point for sending control commands.</a:t>
            </a:r>
            <a:endParaRPr lang="en-US" sz="1500" dirty="0"/>
          </a:p>
        </p:txBody>
      </p: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5257743" y="2982034"/>
            <a:ext cx="212608" cy="24240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4509514" y="4803800"/>
            <a:ext cx="206734" cy="237052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2095871" y="4803044"/>
            <a:ext cx="210259" cy="239730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32191A-89CE-2DCD-0EBD-A9EAFD889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400000">
            <a:off x="4529959" y="1560028"/>
            <a:ext cx="3017520" cy="1188720"/>
          </a:xfrm>
          <a:prstGeom prst="roundRect">
            <a:avLst>
              <a:gd name="adj" fmla="val 50000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Two mobile robots with sensors and optical communication units.</a:t>
            </a:r>
            <a:endParaRPr lang="en-US" sz="15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E878D5-1B33-F914-FA01-5DC33AE93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400000">
            <a:off x="710680" y="4149620"/>
            <a:ext cx="3017520" cy="1188720"/>
          </a:xfrm>
          <a:prstGeom prst="roundRect">
            <a:avLst>
              <a:gd name="adj" fmla="val 50000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Overhead camera-based system used for tracking and control.</a:t>
            </a:r>
            <a:endParaRPr lang="en-US" sz="15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5B319E-6C66-4831-7559-635E33862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00000">
            <a:off x="4530316" y="4063123"/>
            <a:ext cx="3017520" cy="1188720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Robots' inter-communication with each other using LoRa.</a:t>
            </a:r>
            <a:endParaRPr lang="en-US" sz="15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2E91DB-0A24-21DA-11BF-C713099D7BAC}"/>
              </a:ext>
            </a:extLst>
          </p:cNvPr>
          <p:cNvSpPr txBox="1">
            <a:spLocks/>
          </p:cNvSpPr>
          <p:nvPr/>
        </p:nvSpPr>
        <p:spPr>
          <a:xfrm>
            <a:off x="7875696" y="1082039"/>
            <a:ext cx="3478104" cy="5094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378FDA-DD46-D879-4B09-028602FDC0FF}"/>
              </a:ext>
            </a:extLst>
          </p:cNvPr>
          <p:cNvSpPr txBox="1"/>
          <p:nvPr/>
        </p:nvSpPr>
        <p:spPr>
          <a:xfrm>
            <a:off x="8256118" y="1298495"/>
            <a:ext cx="3776742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The LED panel is placed on the wall near the working area in a small-scale setup. It acts as a Li-Fi transmitter that sends signals using visible light.</a:t>
            </a:r>
          </a:p>
          <a:p>
            <a:r>
              <a:rPr lang="en-US" sz="2600" dirty="0"/>
              <a:t> </a:t>
            </a:r>
          </a:p>
          <a:p>
            <a:r>
              <a:rPr lang="en-US" sz="2600" dirty="0"/>
              <a:t>The robots receive these signals using light sensors and simple signal processing circuits.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022656-8796-C189-4287-34F5E1581893}"/>
              </a:ext>
            </a:extLst>
          </p:cNvPr>
          <p:cNvCxnSpPr/>
          <p:nvPr/>
        </p:nvCxnSpPr>
        <p:spPr>
          <a:xfrm>
            <a:off x="8128389" y="1065343"/>
            <a:ext cx="0" cy="47273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9DADB-CBDC-6C3A-D1D6-E3FD4F9A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C7E685-4C7C-078E-9960-1096A7B29D6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84860" y="1164456"/>
            <a:ext cx="10622280" cy="517064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RF-Restricted Environments: Hospitals, aircraft cabins, or sensitive industrial areas.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Smart Indoor Robotics: Coordinated robot navigation for warehouses or labs.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Secure Communication Systems: Data transfer with minimal interference risk.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Educational &amp; Research Platforms: Demonstrates Li-Fi and multi-robot coordination.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Prototype for IoT-Integrated Automation: Shows potential for smart building applications.</a:t>
            </a:r>
            <a:endParaRPr lang="en-US" sz="2400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274D83-8F60-C13E-DC4D-BFD2F804AFB3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CE3255-091F-B425-B5D6-21953DEF0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933339-FFE5-6FB2-BBB5-DD250B962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01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66D8-939E-8245-9650-9B03B1F1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E57C2E4-8DAE-BA36-B94B-9691D1300A6C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Role Allocation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B58E06-3497-6FC1-D748-3C923C82F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C59F19-07E0-6C02-3134-867DDFC4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3FCB2E5-98D9-F8E1-1852-200886256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95"/>
            <a:ext cx="10515600" cy="4878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Member 1 – Communication &amp; Li-Fi Hardware</a:t>
            </a:r>
          </a:p>
          <a:p>
            <a:r>
              <a:rPr lang="en-US" sz="1800" b="1" dirty="0"/>
              <a:t>Focus:</a:t>
            </a:r>
            <a:r>
              <a:rPr lang="en-US" sz="1800" dirty="0"/>
              <a:t> Establishing a reliable data link between the wall panel and the robot.</a:t>
            </a:r>
          </a:p>
          <a:p>
            <a:r>
              <a:rPr lang="en-US" sz="1800" b="1" dirty="0"/>
              <a:t>Primary Responsibility:</a:t>
            </a:r>
            <a:r>
              <a:rPr lang="en-US" sz="1800" dirty="0"/>
              <a:t> Building the Li-Fi system to ensure the robot receives commands without errors.</a:t>
            </a:r>
          </a:p>
          <a:p>
            <a:r>
              <a:rPr lang="en-US" sz="1800" b="1" dirty="0"/>
              <a:t>Key Tasks:</a:t>
            </a:r>
            <a:endParaRPr lang="en-US" sz="1800" dirty="0"/>
          </a:p>
          <a:p>
            <a:pPr lvl="1"/>
            <a:r>
              <a:rPr lang="en-US" sz="1800" b="1" dirty="0"/>
              <a:t>Hardware Setup:</a:t>
            </a:r>
            <a:r>
              <a:rPr lang="en-US" sz="1800" dirty="0"/>
              <a:t> Designing the wall-mounted LED transmitter and the robot-mounted light receiver. 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Signal Quality:</a:t>
            </a:r>
            <a:r>
              <a:rPr lang="en-US" sz="1800" dirty="0"/>
              <a:t> Filtering out ambient light to maintain a clean, consistent data stream. </a:t>
            </a:r>
          </a:p>
          <a:p>
            <a:endParaRPr lang="en-US" sz="1800" dirty="0"/>
          </a:p>
          <a:p>
            <a:pPr lvl="1"/>
            <a:r>
              <a:rPr lang="en-US" sz="1800" b="1" dirty="0"/>
              <a:t>Reliability Testing:</a:t>
            </a:r>
            <a:r>
              <a:rPr lang="en-US" sz="1800" dirty="0"/>
              <a:t> Verifying the communication range and testing performance to ensure no data is lost during robot movement.</a:t>
            </a:r>
          </a:p>
          <a:p>
            <a:pPr lvl="1"/>
            <a:endParaRPr lang="en-US" sz="1800" dirty="0"/>
          </a:p>
          <a:p>
            <a:r>
              <a:rPr lang="en-US" sz="1800" b="1" dirty="0"/>
              <a:t>Goal:</a:t>
            </a:r>
            <a:r>
              <a:rPr lang="en-US" sz="1800" dirty="0"/>
              <a:t> Create a "digital bridge" where the wall panel can reliably "talk" to the robot.</a:t>
            </a:r>
          </a:p>
        </p:txBody>
      </p:sp>
    </p:spTree>
    <p:extLst>
      <p:ext uri="{BB962C8B-B14F-4D97-AF65-F5344CB8AC3E}">
        <p14:creationId xmlns:p14="http://schemas.microsoft.com/office/powerpoint/2010/main" val="885332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166D5-7CA6-06CD-1E3F-481ADAA8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116C96-07BB-BB47-24D2-D8157399922A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Role Allocation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B56199-1C94-ABA4-2C56-49B87459A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65C07E-64C1-7BE2-06F6-2A0B3908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AA33D29-1C94-A5CD-7DBC-13C76B5B2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95"/>
            <a:ext cx="10515600" cy="4878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Member 2 –Embedded Control &amp; Robot Navigation</a:t>
            </a:r>
          </a:p>
          <a:p>
            <a:r>
              <a:rPr lang="en-US" sz="1800" b="1" dirty="0"/>
              <a:t>Focus: </a:t>
            </a:r>
            <a:r>
              <a:rPr lang="en-US" sz="1800" dirty="0"/>
              <a:t>Enabling the robot to interpret instructions and move safely. </a:t>
            </a:r>
          </a:p>
          <a:p>
            <a:r>
              <a:rPr lang="en-US" sz="1800" b="1" dirty="0"/>
              <a:t>Primary Responsibility:</a:t>
            </a:r>
            <a:r>
              <a:rPr lang="en-US" sz="1800" dirty="0"/>
              <a:t> Managing the robot's physical movement and ensuring it follows the commands received via Li-Fi. </a:t>
            </a:r>
          </a:p>
          <a:p>
            <a:r>
              <a:rPr lang="en-US" sz="1800" b="1" dirty="0"/>
              <a:t>Key Tasks:</a:t>
            </a:r>
          </a:p>
          <a:p>
            <a:pPr lvl="1"/>
            <a:r>
              <a:rPr lang="en-US" sz="1800" b="1" dirty="0"/>
              <a:t>Control Systems: </a:t>
            </a:r>
            <a:r>
              <a:rPr lang="en-US" sz="1800" dirty="0"/>
              <a:t>Developing the robot's "onboard brain" (firmware) to interpret data into motor movements.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r>
              <a:rPr lang="en-US" sz="1800" b="1" dirty="0"/>
              <a:t>Movement Precision: </a:t>
            </a:r>
            <a:r>
              <a:rPr lang="en-US" sz="1800" dirty="0"/>
              <a:t>Ensuring the robot navigates smoothly and accurately.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r>
              <a:rPr lang="en-US" sz="1800" b="1" dirty="0"/>
              <a:t>Safety &amp;  Obstacles:</a:t>
            </a:r>
            <a:r>
              <a:rPr lang="en-US" sz="1800" dirty="0"/>
              <a:t> Implementing an automatic "safety override" system so the robot stops immediately if an obstacle is detected, regardless of the incoming command.</a:t>
            </a:r>
          </a:p>
          <a:p>
            <a:pPr lvl="1"/>
            <a:endParaRPr lang="en-US" sz="1800" dirty="0"/>
          </a:p>
          <a:p>
            <a:r>
              <a:rPr lang="en-US" sz="1800" b="1" dirty="0"/>
              <a:t>Goal:</a:t>
            </a:r>
            <a:r>
              <a:rPr lang="en-US" sz="1800" dirty="0"/>
              <a:t> Build a robust, responsive, and safe robot that executes instructions effectively.</a:t>
            </a:r>
          </a:p>
        </p:txBody>
      </p:sp>
    </p:spTree>
    <p:extLst>
      <p:ext uri="{BB962C8B-B14F-4D97-AF65-F5344CB8AC3E}">
        <p14:creationId xmlns:p14="http://schemas.microsoft.com/office/powerpoint/2010/main" val="28713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D9315-CDBC-0B3D-F0AC-4311379A4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FBD3F46-B7D6-B1BA-DB6A-F85E6E0A81C3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Role Allocation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D4F37C-FA6C-FEB6-6798-61736D804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D71BAB-70B4-A328-8EA4-8CAB79CA4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842715C-CA42-E0E0-8039-A5CBFC73B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95"/>
            <a:ext cx="10515600" cy="4878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Member 3 – </a:t>
            </a:r>
          </a:p>
          <a:p>
            <a:r>
              <a:rPr lang="en-US" sz="1800" b="1" dirty="0"/>
              <a:t>Focus:</a:t>
            </a:r>
            <a:r>
              <a:rPr lang="en-US" sz="1800" dirty="0"/>
              <a:t> Managing the "Big Picture" view and directing overall system logic.</a:t>
            </a:r>
          </a:p>
          <a:p>
            <a:r>
              <a:rPr lang="en-US" sz="1800" b="1" dirty="0"/>
              <a:t>Primary Responsibility:</a:t>
            </a:r>
            <a:r>
              <a:rPr lang="en-US" sz="1800" dirty="0"/>
              <a:t> Acting as the central controller to monitor the environment and coordinate robot decisions. </a:t>
            </a:r>
          </a:p>
          <a:p>
            <a:r>
              <a:rPr lang="en-US" sz="1800" b="1" dirty="0"/>
              <a:t>Key Tasks:</a:t>
            </a:r>
            <a:endParaRPr lang="en-US" sz="1800" dirty="0"/>
          </a:p>
          <a:p>
            <a:pPr lvl="1"/>
            <a:r>
              <a:rPr lang="en-US" sz="1800" b="1" dirty="0"/>
              <a:t>Vision System:</a:t>
            </a:r>
            <a:r>
              <a:rPr lang="en-US" sz="1800" dirty="0"/>
              <a:t> Using the ceiling camera to track the robot's real-time position and orientation.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Strategic Planning:</a:t>
            </a:r>
            <a:r>
              <a:rPr lang="en-US" sz="1800" dirty="0"/>
              <a:t> Calculating the most efficient paths for the robot to reach its destination.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Decision Making:</a:t>
            </a:r>
            <a:r>
              <a:rPr lang="en-US" sz="1800" dirty="0"/>
              <a:t> Implementing a prioritization system to manage tasks, goals, and any potential conflicts between multiple robots.</a:t>
            </a:r>
          </a:p>
          <a:p>
            <a:pPr lvl="1"/>
            <a:endParaRPr lang="en-US" sz="1800" dirty="0"/>
          </a:p>
          <a:p>
            <a:r>
              <a:rPr lang="en-US" sz="1800" b="1" dirty="0"/>
              <a:t>Goal:</a:t>
            </a:r>
            <a:r>
              <a:rPr lang="en-US" sz="1800" dirty="0"/>
              <a:t> Provide the "global intelligence" that tells the robots where to go and why.</a:t>
            </a:r>
          </a:p>
        </p:txBody>
      </p:sp>
    </p:spTree>
    <p:extLst>
      <p:ext uri="{BB962C8B-B14F-4D97-AF65-F5344CB8AC3E}">
        <p14:creationId xmlns:p14="http://schemas.microsoft.com/office/powerpoint/2010/main" val="315471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E9F6-59DF-622A-F414-8D7ACFBCB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7AFC82F-E478-4C91-C71C-77D9B712D3D0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2800" b="1" dirty="0"/>
              <a:t>entralized </a:t>
            </a:r>
          </a:p>
          <a:p>
            <a:pPr algn="ctr"/>
            <a:r>
              <a:rPr lang="en-US" sz="2800" b="1" dirty="0"/>
              <a:t>Intelligence and Mapping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7E7D29-B420-A2DE-6C68-1220E31B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C341B8-0841-48AD-6889-E9A39B3C1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574452-E70F-2C6D-C43F-F00FBD36799A}"/>
              </a:ext>
            </a:extLst>
          </p:cNvPr>
          <p:cNvSpPr txBox="1">
            <a:spLocks/>
          </p:cNvSpPr>
          <p:nvPr/>
        </p:nvSpPr>
        <p:spPr>
          <a:xfrm>
            <a:off x="838200" y="1115396"/>
            <a:ext cx="10515600" cy="23136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1. Decision-Making Strategy</a:t>
            </a:r>
          </a:p>
          <a:p>
            <a:pPr marL="0" indent="0">
              <a:buNone/>
            </a:pPr>
            <a:r>
              <a:rPr lang="en-US" sz="1600" dirty="0"/>
              <a:t>A rule-based fallback system is always included.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If the AI decision system fails or is uncertain, the system switches to a safe rule-based mode.</a:t>
            </a:r>
          </a:p>
          <a:p>
            <a:pPr lvl="1"/>
            <a:r>
              <a:rPr lang="en-US" sz="1600" dirty="0"/>
              <a:t>Obstacle avoidance logic</a:t>
            </a:r>
          </a:p>
          <a:p>
            <a:pPr lvl="1"/>
            <a:r>
              <a:rPr lang="en-US" sz="1600" dirty="0"/>
              <a:t>Goal-directed navigation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AI-based decision making for selecting actions based on distance, importance, and risk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600" dirty="0"/>
              <a:t>This allows the system to make smarter and more flexible decisions instead of only fixed rules.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C84EA2-E53B-E4F1-306E-4F419A62C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3703319"/>
            <a:ext cx="5471160" cy="29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3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6EAD5-A919-FC69-7177-57C32CD3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5D6BD5D-B394-34B0-C667-D1C14B2D9AA7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2800" b="1" dirty="0"/>
              <a:t>entralized </a:t>
            </a:r>
          </a:p>
          <a:p>
            <a:pPr algn="ctr"/>
            <a:r>
              <a:rPr lang="en-US" sz="2800" b="1" dirty="0"/>
              <a:t>Intelligence and Mapping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CC6F51-B394-722F-4AF2-B088D6E51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2309F8-E4F5-06BD-9A5D-65C3C0171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3562EA-1F5B-8B1A-6CA4-C8909355FD15}"/>
              </a:ext>
            </a:extLst>
          </p:cNvPr>
          <p:cNvSpPr txBox="1">
            <a:spLocks/>
          </p:cNvSpPr>
          <p:nvPr/>
        </p:nvSpPr>
        <p:spPr>
          <a:xfrm>
            <a:off x="838200" y="1188721"/>
            <a:ext cx="10515600" cy="25145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2. Backup Logic</a:t>
            </a:r>
          </a:p>
          <a:p>
            <a:pPr marL="0" indent="0">
              <a:buNone/>
            </a:pPr>
            <a:r>
              <a:rPr lang="en-US" sz="2000" dirty="0"/>
              <a:t>A rule-based fallback system is always included.</a:t>
            </a:r>
          </a:p>
          <a:p>
            <a:pPr marL="0" indent="0">
              <a:buNone/>
            </a:pPr>
            <a:r>
              <a:rPr lang="en-US" sz="2000" dirty="0"/>
              <a:t>If the AI decision system fails or is uncertain, the system switches to a safe rule-based mode.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Hence the system works in two layers:</a:t>
            </a:r>
          </a:p>
          <a:p>
            <a:r>
              <a:rPr lang="en-US" sz="2000" dirty="0"/>
              <a:t>AI mode </a:t>
            </a:r>
            <a:r>
              <a:rPr lang="en-US" sz="2000" dirty="0">
                <a:sym typeface="Wingdings" panose="05000000000000000000" pitchFamily="2" charset="2"/>
              </a:rPr>
              <a:t> primary decision making</a:t>
            </a:r>
          </a:p>
          <a:p>
            <a:r>
              <a:rPr lang="en-US" sz="2000" dirty="0">
                <a:sym typeface="Wingdings" panose="05000000000000000000" pitchFamily="2" charset="2"/>
              </a:rPr>
              <a:t>Rule-based mode  Safety backup for reliable operation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ensures the robots always behave safely even under unexpected conditions.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5DFC4C-D03A-A93B-8D3C-624701F16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3703319"/>
            <a:ext cx="5471160" cy="29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59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609EDA-869E-4BE5-AE5D-B898C584B6FF}">
  <ds:schemaRefs>
    <ds:schemaRef ds:uri="16c05727-aa75-4e4a-9b5f-8a80a1165891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71af3243-3dd4-4a8d-8c0d-dd76da1f02a5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253</TotalTime>
  <Words>811</Words>
  <Application>Microsoft Office PowerPoint</Application>
  <PresentationFormat>Widescreen</PresentationFormat>
  <Paragraphs>92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Segoe UI Light</vt:lpstr>
      <vt:lpstr>Wingdings</vt:lpstr>
      <vt:lpstr>Office Theme</vt:lpstr>
      <vt:lpstr>Final Year Project  Presentation</vt:lpstr>
      <vt:lpstr>PowerPoint Presentation</vt:lpstr>
      <vt:lpstr>PowerPoint Presentation</vt:lpstr>
      <vt:lpstr>Project analysis slide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Kavinda Amunugama</dc:creator>
  <cp:lastModifiedBy>Kavinda Amunugama</cp:lastModifiedBy>
  <cp:revision>6</cp:revision>
  <dcterms:created xsi:type="dcterms:W3CDTF">2026-01-13T23:43:26Z</dcterms:created>
  <dcterms:modified xsi:type="dcterms:W3CDTF">2026-04-29T02:41:26Z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